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1e6606d695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1e6606d69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1e6606d69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1e6606d69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1e8df36b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1e8df36b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1e8df36bb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1e8df36bb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1e8df36bb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1e8df36bb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1e8df36bb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1e8df36bb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1e8df36bb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1e8df36bb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Python: Lesson #3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Functions… Again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Marc Geffroy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37191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was covered last lesson?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What is a function.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Why we use functions.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syntax of functions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Defining a function.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Calling a function.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Variable</a:t>
            </a:r>
            <a:r>
              <a:rPr lang="en"/>
              <a:t> scope and lifetime.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Parameters/arguments (typing).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Return values.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 code: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Defining a function.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Refactoring large code section into functions.</a:t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3025" y="1251825"/>
            <a:ext cx="4561851" cy="25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Maintainability Through Functions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Functions increase maintainability and </a:t>
            </a:r>
            <a:r>
              <a:rPr lang="en"/>
              <a:t>reusability</a:t>
            </a:r>
            <a:r>
              <a:rPr lang="en"/>
              <a:t>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cannot have an entire application in a single file.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>
                <a:solidFill>
                  <a:srgbClr val="FF0000"/>
                </a:solidFill>
              </a:rPr>
              <a:t>MODULES</a:t>
            </a:r>
            <a:r>
              <a:rPr lang="en"/>
              <a:t>!!!!!!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Modules are python files consisting of python code.</a:t>
            </a:r>
            <a:endParaRPr/>
          </a:p>
        </p:txBody>
      </p:sp>
      <p:sp>
        <p:nvSpPr>
          <p:cNvPr id="149" name="Google Shape;149;p1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Modules can consist of classes, functions and/or variables.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is no hard set rules in Python around modules ie no IDE errors, warnings or hints.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It’s up to programmers to mind their manners.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Syntax #1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a module: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Ensure a </a:t>
            </a:r>
            <a:r>
              <a:rPr lang="en"/>
              <a:t>relevant</a:t>
            </a:r>
            <a:r>
              <a:rPr lang="en"/>
              <a:t> name for the file ie ‘Greetings.py’.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Ensure that the path to the module can be found.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Define some python code inside  the file.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Hint: Keep related code in a module. Create additional modules as needed</a:t>
            </a:r>
            <a:endParaRPr/>
          </a:p>
        </p:txBody>
      </p:sp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4874850" y="1307850"/>
            <a:ext cx="4039500" cy="33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“Greetings.py”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41B47"/>
                </a:solidFill>
              </a:rPr>
              <a:t>d</a:t>
            </a:r>
            <a:r>
              <a:rPr lang="en" sz="1200">
                <a:solidFill>
                  <a:srgbClr val="741B47"/>
                </a:solidFill>
              </a:rPr>
              <a:t>ef </a:t>
            </a:r>
            <a:r>
              <a:rPr lang="en" sz="1200">
                <a:solidFill>
                  <a:srgbClr val="3C78D8"/>
                </a:solidFill>
              </a:rPr>
              <a:t>greet</a:t>
            </a:r>
            <a:r>
              <a:rPr lang="en" sz="1200">
                <a:solidFill>
                  <a:srgbClr val="3C78D8"/>
                </a:solidFill>
              </a:rPr>
              <a:t>Guest</a:t>
            </a:r>
            <a:r>
              <a:rPr lang="en" sz="1200"/>
              <a:t>():</a:t>
            </a:r>
            <a:br>
              <a:rPr lang="en" sz="1200"/>
            </a:br>
            <a:r>
              <a:rPr lang="en" sz="1200"/>
              <a:t>	</a:t>
            </a:r>
            <a:r>
              <a:rPr lang="en" sz="1200">
                <a:solidFill>
                  <a:srgbClr val="C27BA0"/>
                </a:solidFill>
              </a:rPr>
              <a:t>print</a:t>
            </a:r>
            <a:r>
              <a:rPr lang="en" sz="1200"/>
              <a:t>(</a:t>
            </a:r>
            <a:r>
              <a:rPr lang="en" sz="1200">
                <a:solidFill>
                  <a:srgbClr val="93C47D"/>
                </a:solidFill>
              </a:rPr>
              <a:t>‘Hello, how do you do?’</a:t>
            </a:r>
            <a:r>
              <a:rPr lang="en" sz="1200"/>
              <a:t>)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41B47"/>
                </a:solidFill>
              </a:rPr>
              <a:t>d</a:t>
            </a:r>
            <a:r>
              <a:rPr lang="en" sz="1200">
                <a:solidFill>
                  <a:srgbClr val="741B47"/>
                </a:solidFill>
              </a:rPr>
              <a:t>ef </a:t>
            </a:r>
            <a:r>
              <a:rPr lang="en" sz="1200">
                <a:solidFill>
                  <a:srgbClr val="3C78D8"/>
                </a:solidFill>
              </a:rPr>
              <a:t>greet</a:t>
            </a:r>
            <a:r>
              <a:rPr lang="en" sz="1200">
                <a:solidFill>
                  <a:srgbClr val="3C78D8"/>
                </a:solidFill>
              </a:rPr>
              <a:t>Friend</a:t>
            </a:r>
            <a:r>
              <a:rPr lang="en" sz="1200"/>
              <a:t>(AName):</a:t>
            </a:r>
            <a:br>
              <a:rPr lang="en" sz="1200"/>
            </a:br>
            <a:r>
              <a:rPr lang="en" sz="1200"/>
              <a:t>	</a:t>
            </a:r>
            <a:r>
              <a:rPr lang="en" sz="1200">
                <a:solidFill>
                  <a:srgbClr val="C27BA0"/>
                </a:solidFill>
              </a:rPr>
              <a:t>print</a:t>
            </a:r>
            <a:r>
              <a:rPr lang="en" sz="1200"/>
              <a:t>(</a:t>
            </a:r>
            <a:r>
              <a:rPr lang="en" sz="1200">
                <a:solidFill>
                  <a:srgbClr val="93C47D"/>
                </a:solidFill>
              </a:rPr>
              <a:t>‘Hey ’</a:t>
            </a:r>
            <a:r>
              <a:rPr lang="en" sz="1200"/>
              <a:t> + AName + </a:t>
            </a:r>
            <a:r>
              <a:rPr lang="en" sz="1200">
                <a:solidFill>
                  <a:srgbClr val="93C47D"/>
                </a:solidFill>
              </a:rPr>
              <a:t>‘, how you buddy?’</a:t>
            </a:r>
            <a:r>
              <a:rPr lang="en" sz="1200"/>
              <a:t>)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41B47"/>
                </a:solidFill>
              </a:rPr>
              <a:t>d</a:t>
            </a:r>
            <a:r>
              <a:rPr lang="en" sz="1200">
                <a:solidFill>
                  <a:srgbClr val="741B47"/>
                </a:solidFill>
              </a:rPr>
              <a:t>ef </a:t>
            </a:r>
            <a:r>
              <a:rPr lang="en" sz="1200">
                <a:solidFill>
                  <a:srgbClr val="3C78D8"/>
                </a:solidFill>
              </a:rPr>
              <a:t>greetMother</a:t>
            </a:r>
            <a:r>
              <a:rPr lang="en" sz="1200"/>
              <a:t>():</a:t>
            </a:r>
            <a:br>
              <a:rPr lang="en" sz="1200"/>
            </a:br>
            <a:r>
              <a:rPr lang="en" sz="1200"/>
              <a:t>	</a:t>
            </a:r>
            <a:r>
              <a:rPr lang="en" sz="1200">
                <a:solidFill>
                  <a:srgbClr val="C27BA0"/>
                </a:solidFill>
              </a:rPr>
              <a:t>print</a:t>
            </a:r>
            <a:r>
              <a:rPr lang="en" sz="1200"/>
              <a:t>(</a:t>
            </a:r>
            <a:r>
              <a:rPr lang="en" sz="1200">
                <a:solidFill>
                  <a:srgbClr val="93C47D"/>
                </a:solidFill>
              </a:rPr>
              <a:t>‘Hello Mother dearest’</a:t>
            </a:r>
            <a:r>
              <a:rPr lang="en" sz="1200"/>
              <a:t>)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741B47"/>
                </a:solidFill>
              </a:rPr>
              <a:t>d</a:t>
            </a:r>
            <a:r>
              <a:rPr lang="en" sz="1200">
                <a:solidFill>
                  <a:srgbClr val="741B47"/>
                </a:solidFill>
              </a:rPr>
              <a:t>ef </a:t>
            </a:r>
            <a:r>
              <a:rPr lang="en" sz="1200">
                <a:solidFill>
                  <a:srgbClr val="3C78D8"/>
                </a:solidFill>
              </a:rPr>
              <a:t>greetEnemy</a:t>
            </a:r>
            <a:r>
              <a:rPr lang="en" sz="1200"/>
              <a:t>():</a:t>
            </a:r>
            <a:br>
              <a:rPr lang="en" sz="1200"/>
            </a:br>
            <a:r>
              <a:rPr lang="en" sz="1200"/>
              <a:t>	</a:t>
            </a:r>
            <a:r>
              <a:rPr lang="en" sz="1200">
                <a:solidFill>
                  <a:srgbClr val="C27BA0"/>
                </a:solidFill>
              </a:rPr>
              <a:t>print</a:t>
            </a:r>
            <a:r>
              <a:rPr lang="en" sz="1200"/>
              <a:t>(</a:t>
            </a:r>
            <a:r>
              <a:rPr lang="en" sz="1200">
                <a:solidFill>
                  <a:srgbClr val="93C47D"/>
                </a:solidFill>
              </a:rPr>
              <a:t>‘Hmmmph…’</a:t>
            </a:r>
            <a:r>
              <a:rPr lang="en" sz="1200"/>
              <a:t>)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Syntax #2</a:t>
            </a:r>
            <a:endParaRPr/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 module: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 use a module, you have to import the module file using the </a:t>
            </a:r>
            <a:r>
              <a:rPr lang="en">
                <a:solidFill>
                  <a:srgbClr val="C27BA0"/>
                </a:solidFill>
              </a:rPr>
              <a:t>import </a:t>
            </a:r>
            <a:r>
              <a:rPr lang="en"/>
              <a:t>keyword.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can also use the ‘</a:t>
            </a:r>
            <a:r>
              <a:rPr lang="en">
                <a:solidFill>
                  <a:srgbClr val="C27BA0"/>
                </a:solidFill>
              </a:rPr>
              <a:t>from</a:t>
            </a:r>
            <a:r>
              <a:rPr lang="en"/>
              <a:t>…</a:t>
            </a:r>
            <a:r>
              <a:rPr lang="en">
                <a:solidFill>
                  <a:srgbClr val="C27BA0"/>
                </a:solidFill>
              </a:rPr>
              <a:t>import</a:t>
            </a:r>
            <a:r>
              <a:rPr lang="en"/>
              <a:t>…’ to only import specific attributes from the module.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 use/call a module’s attribute you use </a:t>
            </a:r>
            <a:r>
              <a:rPr lang="en">
                <a:solidFill>
                  <a:srgbClr val="FFFF00"/>
                </a:solidFill>
              </a:rPr>
              <a:t>dot notation</a:t>
            </a:r>
            <a:r>
              <a:rPr lang="en"/>
              <a:t> (Object Oriented calling language) in the following syntax: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i="1" lang="en">
                <a:solidFill>
                  <a:srgbClr val="6FA8DC"/>
                </a:solidFill>
              </a:rPr>
              <a:t>module_name</a:t>
            </a:r>
            <a:r>
              <a:rPr b="1" lang="en">
                <a:solidFill>
                  <a:srgbClr val="FF0000"/>
                </a:solidFill>
              </a:rPr>
              <a:t>.</a:t>
            </a:r>
            <a:r>
              <a:rPr i="1" lang="en">
                <a:solidFill>
                  <a:srgbClr val="8E7CC3"/>
                </a:solidFill>
              </a:rPr>
              <a:t>module_attribute</a:t>
            </a:r>
            <a:endParaRPr i="1">
              <a:solidFill>
                <a:srgbClr val="8E7CC3"/>
              </a:solidFill>
            </a:endParaRPr>
          </a:p>
        </p:txBody>
      </p:sp>
      <p:sp>
        <p:nvSpPr>
          <p:cNvPr id="163" name="Google Shape;163;p17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mport Greetings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myFriend= ‘Trevor’</a:t>
            </a:r>
            <a:br>
              <a:rPr lang="en"/>
            </a:br>
            <a:r>
              <a:rPr lang="en">
                <a:solidFill>
                  <a:srgbClr val="6FA8DC"/>
                </a:solidFill>
              </a:rPr>
              <a:t>Greetings</a:t>
            </a:r>
            <a:r>
              <a:rPr lang="en"/>
              <a:t>.</a:t>
            </a:r>
            <a:r>
              <a:rPr lang="en">
                <a:solidFill>
                  <a:srgbClr val="6D9EEB"/>
                </a:solidFill>
              </a:rPr>
              <a:t>greetFriend</a:t>
            </a:r>
            <a:r>
              <a:rPr lang="en"/>
              <a:t>(myFriend)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&gt;&gt;&gt; </a:t>
            </a:r>
            <a:r>
              <a:rPr lang="en" sz="1200">
                <a:solidFill>
                  <a:srgbClr val="93C47D"/>
                </a:solidFill>
              </a:rPr>
              <a:t>Hey Trevor, how you buddy?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Greetings import greetEnemy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D9EEB"/>
                </a:solidFill>
              </a:rPr>
              <a:t>greetEnemy</a:t>
            </a:r>
            <a:r>
              <a:rPr lang="en"/>
              <a:t>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&gt;&gt;&gt; </a:t>
            </a:r>
            <a:r>
              <a:rPr lang="en" sz="1200">
                <a:solidFill>
                  <a:srgbClr val="93C47D"/>
                </a:solidFill>
              </a:rPr>
              <a:t>Hmmmph…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ASCII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ASCII? American Standard Code for Information Interchange</a:t>
            </a:r>
            <a:endParaRPr/>
          </a:p>
        </p:txBody>
      </p:sp>
      <p:sp>
        <p:nvSpPr>
          <p:cNvPr id="174" name="Google Shape;174;p19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ASCII is a character encoding used between computers on the internet.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ASCII was developed in the 60s.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ASCII uses 7 bits to encode 128 characters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0-9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</a:t>
            </a:r>
            <a:r>
              <a:rPr lang="en"/>
              <a:t>-z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A-Z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Special characters.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288" y="152400"/>
            <a:ext cx="715143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