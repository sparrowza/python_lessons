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Montserrat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1d5e59c2c1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1d5e59c2c1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1d5e59c2c1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1d5e59c2c1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1d5e59c2c1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11d5e59c2c1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1d5e59c2c1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1d5e59c2c1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1d5e59c2c1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1d5e59c2c1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1d5e59c2c1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1d5e59c2c1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1d5e59c2c1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1d5e59c2c1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Python: Lesson #2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Marc Geffroy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3798900" cy="7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was covered last lesson?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269350"/>
            <a:ext cx="2770200" cy="311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What is Python.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Where it’s used.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How to get started.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Variables.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Operators.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Your first Python app.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Conditional statements.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Loops.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User input.</a:t>
            </a:r>
            <a:endParaRPr/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5703" y="825750"/>
            <a:ext cx="2170545" cy="381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79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297500" y="1384000"/>
            <a:ext cx="3403200" cy="30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function?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 function is a group of related statements that perform a specific task.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Why use functions?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Functions break our programs into smaller more modular chunks. Making larger programs more organised and manageable.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Allows reusability and avoids repetition.</a:t>
            </a:r>
            <a:endParaRPr/>
          </a:p>
        </p:txBody>
      </p:sp>
      <p:sp>
        <p:nvSpPr>
          <p:cNvPr id="149" name="Google Shape;149;p15"/>
          <p:cNvSpPr txBox="1"/>
          <p:nvPr>
            <p:ph idx="2" type="body"/>
          </p:nvPr>
        </p:nvSpPr>
        <p:spPr>
          <a:xfrm>
            <a:off x="4933225" y="1383950"/>
            <a:ext cx="3403200" cy="30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Defining a basic function: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64D79"/>
                </a:solidFill>
              </a:rPr>
              <a:t>Def</a:t>
            </a:r>
            <a:r>
              <a:rPr lang="en"/>
              <a:t> </a:t>
            </a:r>
            <a:r>
              <a:rPr lang="en">
                <a:solidFill>
                  <a:srgbClr val="9CDCFE"/>
                </a:solidFill>
              </a:rPr>
              <a:t>greet</a:t>
            </a:r>
            <a:r>
              <a:rPr lang="en"/>
              <a:t>(AName):</a:t>
            </a:r>
            <a:br>
              <a:rPr lang="en"/>
            </a:br>
            <a:r>
              <a:rPr lang="en"/>
              <a:t>	</a:t>
            </a:r>
            <a:r>
              <a:rPr lang="en">
                <a:solidFill>
                  <a:srgbClr val="6AA84F"/>
                </a:solidFill>
              </a:rPr>
              <a:t>‘’’ This is a basic function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	‘’’</a:t>
            </a:r>
            <a:br>
              <a:rPr lang="en"/>
            </a:br>
            <a:r>
              <a:rPr lang="en"/>
              <a:t>	</a:t>
            </a:r>
            <a:r>
              <a:rPr lang="en">
                <a:solidFill>
                  <a:srgbClr val="A64D79"/>
                </a:solidFill>
              </a:rPr>
              <a:t>print</a:t>
            </a:r>
            <a:r>
              <a:rPr lang="en"/>
              <a:t>(</a:t>
            </a:r>
            <a:r>
              <a:rPr lang="en">
                <a:solidFill>
                  <a:srgbClr val="6AA84F"/>
                </a:solidFill>
              </a:rPr>
              <a:t>‘Hello, ’</a:t>
            </a:r>
            <a:r>
              <a:rPr lang="en"/>
              <a:t> + AName + </a:t>
            </a:r>
            <a:r>
              <a:rPr lang="en">
                <a:solidFill>
                  <a:srgbClr val="6AA84F"/>
                </a:solidFill>
              </a:rPr>
              <a:t>‘welcome!’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</a:rPr>
              <a:t># Calling a function</a:t>
            </a:r>
            <a:br>
              <a:rPr lang="en"/>
            </a:br>
            <a:r>
              <a:rPr lang="en"/>
              <a:t>greet(‘Jude’)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&gt;&gt;&gt; Hello, Jude  welcome!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Defining syntax</a:t>
            </a:r>
            <a:endParaRPr/>
          </a:p>
        </p:txBody>
      </p:sp>
      <p:sp>
        <p:nvSpPr>
          <p:cNvPr id="155" name="Google Shape;155;p16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Keyword </a:t>
            </a:r>
            <a:r>
              <a:rPr lang="en">
                <a:solidFill>
                  <a:srgbClr val="A64D79"/>
                </a:solidFill>
              </a:rPr>
              <a:t>def </a:t>
            </a:r>
            <a:r>
              <a:rPr lang="en"/>
              <a:t>marks the start of the function header.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Function</a:t>
            </a:r>
            <a:r>
              <a:rPr lang="en"/>
              <a:t> name.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Parameters (arguments), optional.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Colon, marking the end of the function header.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Optional documentation string (docstring).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Valid python </a:t>
            </a:r>
            <a:r>
              <a:rPr lang="en"/>
              <a:t>statement.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Optional return statement.</a:t>
            </a:r>
            <a:endParaRPr/>
          </a:p>
        </p:txBody>
      </p:sp>
      <p:sp>
        <p:nvSpPr>
          <p:cNvPr id="156" name="Google Shape;156;p16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64D79"/>
                </a:solidFill>
              </a:rPr>
              <a:t>def</a:t>
            </a:r>
            <a:r>
              <a:rPr lang="en"/>
              <a:t> </a:t>
            </a:r>
            <a:r>
              <a:rPr lang="en">
                <a:solidFill>
                  <a:srgbClr val="6FA8DC"/>
                </a:solidFill>
              </a:rPr>
              <a:t>greet</a:t>
            </a:r>
            <a:r>
              <a:rPr lang="en"/>
              <a:t>(AName):</a:t>
            </a:r>
            <a:br>
              <a:rPr lang="en"/>
            </a:br>
            <a:r>
              <a:rPr lang="en"/>
              <a:t>	</a:t>
            </a:r>
            <a:r>
              <a:rPr lang="en">
                <a:solidFill>
                  <a:srgbClr val="6AA84F"/>
                </a:solidFill>
              </a:rPr>
              <a:t>‘’’ This is a basic function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	‘’’</a:t>
            </a:r>
            <a:br>
              <a:rPr lang="en"/>
            </a:br>
            <a:r>
              <a:rPr lang="en"/>
              <a:t>	</a:t>
            </a:r>
            <a:r>
              <a:rPr lang="en">
                <a:solidFill>
                  <a:srgbClr val="A64D79"/>
                </a:solidFill>
              </a:rPr>
              <a:t>return </a:t>
            </a:r>
            <a:r>
              <a:rPr lang="en">
                <a:solidFill>
                  <a:srgbClr val="6AA84F"/>
                </a:solidFill>
              </a:rPr>
              <a:t>‘Hello, ’</a:t>
            </a:r>
            <a:r>
              <a:rPr lang="en"/>
              <a:t> + AName + </a:t>
            </a:r>
            <a:r>
              <a:rPr lang="en">
                <a:solidFill>
                  <a:srgbClr val="6AA84F"/>
                </a:solidFill>
              </a:rPr>
              <a:t>‘welcome!’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 Syntax</a:t>
            </a:r>
            <a:endParaRPr/>
          </a:p>
        </p:txBody>
      </p:sp>
      <p:sp>
        <p:nvSpPr>
          <p:cNvPr id="162" name="Google Shape;162;p17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To call a function just type the function name. You may need a parameter or to assign the return value.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Always</a:t>
            </a:r>
            <a:r>
              <a:rPr lang="en"/>
              <a:t> define your function before calling it. You cannot call a function that is defined below it.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7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64D79"/>
                </a:solidFill>
              </a:rPr>
              <a:t>def</a:t>
            </a:r>
            <a:r>
              <a:rPr lang="en"/>
              <a:t> </a:t>
            </a:r>
            <a:r>
              <a:rPr lang="en">
                <a:solidFill>
                  <a:srgbClr val="6FA8DC"/>
                </a:solidFill>
              </a:rPr>
              <a:t>greet</a:t>
            </a:r>
            <a:r>
              <a:rPr lang="en"/>
              <a:t>(AName):</a:t>
            </a:r>
            <a:br>
              <a:rPr lang="en"/>
            </a:br>
            <a:r>
              <a:rPr lang="en"/>
              <a:t>	</a:t>
            </a:r>
            <a:r>
              <a:rPr lang="en">
                <a:solidFill>
                  <a:srgbClr val="6AA84F"/>
                </a:solidFill>
              </a:rPr>
              <a:t>‘’’ This is a basic function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	‘’’</a:t>
            </a:r>
            <a:br>
              <a:rPr lang="en"/>
            </a:br>
            <a:r>
              <a:rPr lang="en"/>
              <a:t>	</a:t>
            </a:r>
            <a:r>
              <a:rPr lang="en">
                <a:solidFill>
                  <a:srgbClr val="A64D79"/>
                </a:solidFill>
              </a:rPr>
              <a:t>return </a:t>
            </a:r>
            <a:r>
              <a:rPr lang="en">
                <a:solidFill>
                  <a:srgbClr val="6AA84F"/>
                </a:solidFill>
              </a:rPr>
              <a:t>‘Hello, ’</a:t>
            </a:r>
            <a:r>
              <a:rPr lang="en"/>
              <a:t> + AName + </a:t>
            </a:r>
            <a:r>
              <a:rPr lang="en">
                <a:solidFill>
                  <a:srgbClr val="6AA84F"/>
                </a:solidFill>
              </a:rPr>
              <a:t>‘welcome!’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welcomeString = greet(‘Byron’)</a:t>
            </a:r>
            <a:br>
              <a:rPr lang="en"/>
            </a:br>
            <a:r>
              <a:rPr lang="en"/>
              <a:t>print(welcomeString)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&gt;&gt;&gt; Hello, Byron welcome!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 Syntax #2</a:t>
            </a:r>
            <a:endParaRPr/>
          </a:p>
        </p:txBody>
      </p:sp>
      <p:sp>
        <p:nvSpPr>
          <p:cNvPr id="169" name="Google Shape;169;p18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Docstrings: Documentation strings come directly after the function header. They’re a comment used to describe the function.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Return statement. The return statement is used to exit a function and go back to a place from where it was called.</a:t>
            </a:r>
            <a:endParaRPr/>
          </a:p>
        </p:txBody>
      </p:sp>
      <p:sp>
        <p:nvSpPr>
          <p:cNvPr id="170" name="Google Shape;170;p18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64D79"/>
                </a:solidFill>
              </a:rPr>
              <a:t>def</a:t>
            </a:r>
            <a:r>
              <a:rPr lang="en"/>
              <a:t> </a:t>
            </a:r>
            <a:r>
              <a:rPr lang="en">
                <a:solidFill>
                  <a:srgbClr val="6FA8DC"/>
                </a:solidFill>
              </a:rPr>
              <a:t>greet</a:t>
            </a:r>
            <a:r>
              <a:rPr lang="en"/>
              <a:t>(AName: str) -&gt; str:</a:t>
            </a:r>
            <a:br>
              <a:rPr lang="en"/>
            </a:br>
            <a:r>
              <a:rPr lang="en"/>
              <a:t>	</a:t>
            </a:r>
            <a:r>
              <a:rPr lang="en">
                <a:solidFill>
                  <a:srgbClr val="6AA84F"/>
                </a:solidFill>
              </a:rPr>
              <a:t>‘’’ This function returns a string with a welcome note using the parameter.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	‘’’</a:t>
            </a:r>
            <a:br>
              <a:rPr lang="en"/>
            </a:br>
            <a:r>
              <a:rPr lang="en"/>
              <a:t>	</a:t>
            </a:r>
            <a:r>
              <a:rPr lang="en">
                <a:solidFill>
                  <a:srgbClr val="A64D79"/>
                </a:solidFill>
              </a:rPr>
              <a:t>return </a:t>
            </a:r>
            <a:r>
              <a:rPr lang="en">
                <a:solidFill>
                  <a:srgbClr val="6AA84F"/>
                </a:solidFill>
              </a:rPr>
              <a:t>‘Hello, ’</a:t>
            </a:r>
            <a:r>
              <a:rPr lang="en"/>
              <a:t> + AName + </a:t>
            </a:r>
            <a:r>
              <a:rPr lang="en">
                <a:solidFill>
                  <a:srgbClr val="6AA84F"/>
                </a:solidFill>
              </a:rPr>
              <a:t>‘welcome!’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welcomeString = greet(</a:t>
            </a:r>
            <a:r>
              <a:rPr lang="en">
                <a:solidFill>
                  <a:srgbClr val="6AA84F"/>
                </a:solidFill>
              </a:rPr>
              <a:t>‘Kyle’</a:t>
            </a:r>
            <a:r>
              <a:rPr lang="en"/>
              <a:t>)</a:t>
            </a:r>
            <a:br>
              <a:rPr lang="en"/>
            </a:br>
            <a:r>
              <a:rPr lang="en">
                <a:solidFill>
                  <a:srgbClr val="A64D79"/>
                </a:solidFill>
              </a:rPr>
              <a:t>print</a:t>
            </a:r>
            <a:r>
              <a:rPr lang="en"/>
              <a:t>(welcomeString)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&gt;&gt;&gt; Hello, Byron welcome!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 syntax #3</a:t>
            </a:r>
            <a:endParaRPr/>
          </a:p>
        </p:txBody>
      </p:sp>
      <p:sp>
        <p:nvSpPr>
          <p:cNvPr id="176" name="Google Shape;176;p19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Scope and </a:t>
            </a:r>
            <a:r>
              <a:rPr lang="en"/>
              <a:t>Lifetime of variables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Scope: The scope of a variable is the portion of the program where the variable is recognised.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Parameters and variables defined inside a function are not visible from outside the </a:t>
            </a:r>
            <a:r>
              <a:rPr lang="en"/>
              <a:t>function. They have a local scope.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Lifetime: The period throughout which the variable exists in memory. The lifetime of a variable inside a function is as long as the variable exists.</a:t>
            </a:r>
            <a:endParaRPr/>
          </a:p>
        </p:txBody>
      </p:sp>
      <p:sp>
        <p:nvSpPr>
          <p:cNvPr id="177" name="Google Shape;177;p19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64D79"/>
                </a:solidFill>
              </a:rPr>
              <a:t>d</a:t>
            </a:r>
            <a:r>
              <a:rPr lang="en">
                <a:solidFill>
                  <a:srgbClr val="A64D79"/>
                </a:solidFill>
              </a:rPr>
              <a:t>ef</a:t>
            </a:r>
            <a:r>
              <a:rPr lang="en"/>
              <a:t> </a:t>
            </a:r>
            <a:r>
              <a:rPr lang="en">
                <a:solidFill>
                  <a:srgbClr val="3C78D8"/>
                </a:solidFill>
              </a:rPr>
              <a:t>my_func</a:t>
            </a:r>
            <a:r>
              <a:rPr lang="en"/>
              <a:t>():</a:t>
            </a:r>
            <a:br>
              <a:rPr lang="en"/>
            </a:br>
            <a:r>
              <a:rPr lang="en"/>
              <a:t>	x = </a:t>
            </a:r>
            <a:r>
              <a:rPr lang="en">
                <a:solidFill>
                  <a:srgbClr val="E69138"/>
                </a:solidFill>
              </a:rPr>
              <a:t>10</a:t>
            </a:r>
            <a:br>
              <a:rPr lang="en"/>
            </a:br>
            <a:r>
              <a:rPr lang="en"/>
              <a:t>	</a:t>
            </a:r>
            <a:r>
              <a:rPr lang="en">
                <a:solidFill>
                  <a:srgbClr val="A64D79"/>
                </a:solidFill>
              </a:rPr>
              <a:t>print</a:t>
            </a:r>
            <a:r>
              <a:rPr lang="en"/>
              <a:t>(</a:t>
            </a:r>
            <a:r>
              <a:rPr lang="en">
                <a:solidFill>
                  <a:srgbClr val="6AA84F"/>
                </a:solidFill>
              </a:rPr>
              <a:t>"Value inside function:"</a:t>
            </a:r>
            <a:r>
              <a:rPr lang="en"/>
              <a:t>, x)</a:t>
            </a:r>
            <a:br>
              <a:rPr lang="en"/>
            </a:br>
            <a:br>
              <a:rPr lang="en"/>
            </a:br>
            <a:r>
              <a:rPr lang="en"/>
              <a:t>x = </a:t>
            </a:r>
            <a:r>
              <a:rPr lang="en">
                <a:solidFill>
                  <a:srgbClr val="E69138"/>
                </a:solidFill>
              </a:rPr>
              <a:t>20</a:t>
            </a:r>
            <a:br>
              <a:rPr lang="en"/>
            </a:br>
            <a:r>
              <a:rPr lang="en"/>
              <a:t>my_func()</a:t>
            </a:r>
            <a:br>
              <a:rPr lang="en"/>
            </a:br>
            <a:r>
              <a:rPr lang="en">
                <a:solidFill>
                  <a:srgbClr val="A64D79"/>
                </a:solidFill>
              </a:rPr>
              <a:t>print</a:t>
            </a:r>
            <a:r>
              <a:rPr lang="en"/>
              <a:t>(</a:t>
            </a:r>
            <a:r>
              <a:rPr lang="en">
                <a:solidFill>
                  <a:srgbClr val="6AA84F"/>
                </a:solidFill>
              </a:rPr>
              <a:t>"Value outside function:"</a:t>
            </a:r>
            <a:r>
              <a:rPr lang="en"/>
              <a:t>, x)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&gt;&gt;&gt;Value inside function: 10</a:t>
            </a:r>
            <a:br>
              <a:rPr lang="en"/>
            </a:br>
            <a:r>
              <a:rPr lang="en"/>
              <a:t>&gt;&gt;&gt;Value outside function: 20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 Arguments</a:t>
            </a:r>
            <a:endParaRPr/>
          </a:p>
        </p:txBody>
      </p:sp>
      <p:sp>
        <p:nvSpPr>
          <p:cNvPr id="183" name="Google Shape;183;p20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Multiple arguments.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Parameters are comma </a:t>
            </a:r>
            <a:r>
              <a:rPr lang="en"/>
              <a:t>separated</a:t>
            </a:r>
            <a:r>
              <a:rPr lang="en"/>
              <a:t>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Default values.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If the parameter is not </a:t>
            </a:r>
            <a:r>
              <a:rPr lang="en"/>
              <a:t>defined in the function call it’ll default to the defined value.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Typed values.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You can assign types to the parameters to ensure only a particular type is accepted.</a:t>
            </a:r>
            <a:endParaRPr/>
          </a:p>
        </p:txBody>
      </p:sp>
      <p:sp>
        <p:nvSpPr>
          <p:cNvPr id="184" name="Google Shape;184;p20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64D79"/>
                </a:solidFill>
              </a:rPr>
              <a:t>def</a:t>
            </a:r>
            <a:r>
              <a:rPr lang="en"/>
              <a:t> </a:t>
            </a:r>
            <a:r>
              <a:rPr lang="en">
                <a:solidFill>
                  <a:srgbClr val="3C78D8"/>
                </a:solidFill>
              </a:rPr>
              <a:t>greet</a:t>
            </a:r>
            <a:r>
              <a:rPr lang="en"/>
              <a:t>(name: str, msg=</a:t>
            </a:r>
            <a:r>
              <a:rPr lang="en">
                <a:solidFill>
                  <a:srgbClr val="6AA84F"/>
                </a:solidFill>
              </a:rPr>
              <a:t>"Good morning!"</a:t>
            </a:r>
            <a:r>
              <a:rPr lang="en"/>
              <a:t>):</a:t>
            </a:r>
            <a:br>
              <a:rPr lang="en"/>
            </a:br>
            <a:r>
              <a:rPr lang="en"/>
              <a:t>    </a:t>
            </a:r>
            <a:r>
              <a:rPr lang="en">
                <a:solidFill>
                  <a:srgbClr val="6AA84F"/>
                </a:solidFill>
              </a:rPr>
              <a:t>"""    This function greets to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           the person with the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           provided message.</a:t>
            </a:r>
            <a:br>
              <a:rPr lang="en">
                <a:solidFill>
                  <a:srgbClr val="6AA84F"/>
                </a:solidFill>
              </a:rPr>
            </a:b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       If the message is not provided,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       it defaults to "Good</a:t>
            </a:r>
            <a:br>
              <a:rPr lang="en">
                <a:solidFill>
                  <a:srgbClr val="6AA84F"/>
                </a:solidFill>
              </a:rPr>
            </a:br>
            <a:r>
              <a:rPr lang="en">
                <a:solidFill>
                  <a:srgbClr val="6AA84F"/>
                </a:solidFill>
              </a:rPr>
              <a:t>       Morning!" """</a:t>
            </a:r>
            <a:br>
              <a:rPr lang="en"/>
            </a:br>
            <a:br>
              <a:rPr lang="en"/>
            </a:br>
            <a:r>
              <a:rPr lang="en"/>
              <a:t>    </a:t>
            </a:r>
            <a:r>
              <a:rPr lang="en">
                <a:solidFill>
                  <a:srgbClr val="6AA84F"/>
                </a:solidFill>
              </a:rPr>
              <a:t>print</a:t>
            </a:r>
            <a:r>
              <a:rPr lang="en"/>
              <a:t>(</a:t>
            </a:r>
            <a:r>
              <a:rPr lang="en">
                <a:solidFill>
                  <a:srgbClr val="6AA84F"/>
                </a:solidFill>
              </a:rPr>
              <a:t>"Hello"</a:t>
            </a:r>
            <a:r>
              <a:rPr lang="en"/>
              <a:t> + name + </a:t>
            </a:r>
            <a:r>
              <a:rPr lang="en">
                <a:solidFill>
                  <a:srgbClr val="6AA84F"/>
                </a:solidFill>
              </a:rPr>
              <a:t>', '</a:t>
            </a:r>
            <a:r>
              <a:rPr lang="en"/>
              <a:t> + msg)</a:t>
            </a:r>
            <a:br>
              <a:rPr lang="en"/>
            </a:br>
            <a:br>
              <a:rPr lang="en"/>
            </a:br>
            <a:br>
              <a:rPr lang="en"/>
            </a:br>
            <a:r>
              <a:rPr lang="en"/>
              <a:t>greet(</a:t>
            </a:r>
            <a:r>
              <a:rPr lang="en">
                <a:solidFill>
                  <a:srgbClr val="6AA84F"/>
                </a:solidFill>
              </a:rPr>
              <a:t>"Kate"</a:t>
            </a:r>
            <a:r>
              <a:rPr lang="en"/>
              <a:t>)</a:t>
            </a:r>
            <a:br>
              <a:rPr lang="en"/>
            </a:br>
            <a:r>
              <a:rPr lang="en"/>
              <a:t>greet(</a:t>
            </a:r>
            <a:r>
              <a:rPr lang="en">
                <a:solidFill>
                  <a:srgbClr val="6AA84F"/>
                </a:solidFill>
              </a:rPr>
              <a:t>"Bruce"</a:t>
            </a:r>
            <a:r>
              <a:rPr lang="en"/>
              <a:t>, </a:t>
            </a:r>
            <a:r>
              <a:rPr lang="en">
                <a:solidFill>
                  <a:srgbClr val="6AA84F"/>
                </a:solidFill>
              </a:rPr>
              <a:t>"How do you do?"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&gt;&gt;&gt;Hello, Kate, Good Morning!</a:t>
            </a:r>
            <a:br>
              <a:rPr lang="en"/>
            </a:br>
            <a:r>
              <a:rPr lang="en"/>
              <a:t>&gt;&gt;&gt;Hello, Bruce, How do you do?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