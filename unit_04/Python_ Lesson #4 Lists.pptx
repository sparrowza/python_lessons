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9144000" cy="5143500" type="screen16x9"/>
  <p:notesSz cx="6858000" cy="9144000"/>
  <p:embeddedFontLst>
    <p:embeddedFont>
      <p:font typeface="Montserrat" panose="020B0604020202020204" charset="0"/>
      <p:regular r:id="rId10"/>
      <p:bold r:id="rId11"/>
      <p:italic r:id="rId12"/>
      <p:boldItalic r:id="rId13"/>
    </p:embeddedFont>
    <p:embeddedFont>
      <p:font typeface="Lat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0" y="5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0e2bdef8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0e2bdef8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0e2bdef8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0e2bdef8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428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0e2bdef8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0e2bdef8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456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e2bdef8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0e2bdef8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0e2bdef87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20e2bdef87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0e2bdef87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0e2bdef87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Python: Lesson #4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Marc Geffroy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covered last week?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is a module.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Syntax for importing and using a module.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ASCII Table.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String manipulation.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Structures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002224" y="1307850"/>
            <a:ext cx="5160451" cy="32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 dirty="0"/>
              <a:t>What is a </a:t>
            </a:r>
            <a:r>
              <a:rPr lang="en" sz="1600" dirty="0" smtClean="0"/>
              <a:t>data structure?</a:t>
            </a:r>
          </a:p>
          <a:p>
            <a:pPr lvl="1" indent="-311150">
              <a:buSzPts val="1300"/>
              <a:buChar char="●"/>
            </a:pPr>
            <a:r>
              <a:rPr lang="en-ZA" sz="1600" dirty="0"/>
              <a:t>A</a:t>
            </a:r>
            <a:r>
              <a:rPr lang="en-ZA" sz="1600" dirty="0" smtClean="0"/>
              <a:t> </a:t>
            </a:r>
            <a:r>
              <a:rPr lang="en-ZA" sz="1600" dirty="0"/>
              <a:t>way of formatting data so that it can be used by a computer program or other </a:t>
            </a:r>
            <a:r>
              <a:rPr lang="en-ZA" sz="1600" dirty="0" smtClean="0"/>
              <a:t>system</a:t>
            </a:r>
          </a:p>
          <a:p>
            <a:pPr lvl="1" indent="-311150">
              <a:buSzPts val="1300"/>
              <a:buChar char="●"/>
            </a:pPr>
            <a:endParaRPr lang="en-US" sz="1600" dirty="0"/>
          </a:p>
          <a:p>
            <a:pPr marL="603250" lvl="1" indent="0">
              <a:buSzPts val="1300"/>
              <a:buNone/>
            </a:pPr>
            <a:endParaRPr sz="16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 dirty="0" smtClean="0"/>
              <a:t>Why use data structures?</a:t>
            </a:r>
          </a:p>
          <a:p>
            <a:pPr lvl="1" indent="-311150">
              <a:buSzPts val="1300"/>
              <a:buChar char="●"/>
            </a:pPr>
            <a:r>
              <a:rPr lang="en-ZA" sz="1600" dirty="0"/>
              <a:t>a</a:t>
            </a:r>
            <a:r>
              <a:rPr lang="en-ZA" sz="1600" dirty="0" smtClean="0"/>
              <a:t>llow </a:t>
            </a:r>
            <a:r>
              <a:rPr lang="en-ZA" sz="1600" dirty="0"/>
              <a:t>users and systems to efficiently organize, work with and store </a:t>
            </a:r>
            <a:r>
              <a:rPr lang="en-ZA" sz="1600" dirty="0" smtClean="0"/>
              <a:t>data</a:t>
            </a:r>
            <a:endParaRPr sz="1600" dirty="0"/>
          </a:p>
        </p:txBody>
      </p:sp>
      <p:pic>
        <p:nvPicPr>
          <p:cNvPr id="1026" name="Picture 2" descr="Family 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548" y="1914524"/>
            <a:ext cx="2645652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62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Structures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002224" y="1307850"/>
            <a:ext cx="7608375" cy="32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spcBef>
                <a:spcPts val="1200"/>
              </a:spcBef>
            </a:pPr>
            <a:r>
              <a:rPr lang="en-ZA" sz="1600" dirty="0"/>
              <a:t>Data structures combine primitive data types such as numbers, characters, </a:t>
            </a:r>
            <a:r>
              <a:rPr lang="en-ZA" sz="1600" dirty="0" err="1"/>
              <a:t>booleans</a:t>
            </a:r>
            <a:r>
              <a:rPr lang="en-ZA" sz="1600" dirty="0"/>
              <a:t> and integers into a cohesive format</a:t>
            </a:r>
            <a:r>
              <a:rPr lang="en-ZA" sz="1600" dirty="0" smtClean="0"/>
              <a:t>.</a:t>
            </a:r>
          </a:p>
          <a:p>
            <a:pPr lvl="0">
              <a:spcBef>
                <a:spcPts val="1200"/>
              </a:spcBef>
            </a:pPr>
            <a:endParaRPr lang="en-ZA" sz="1600" dirty="0"/>
          </a:p>
          <a:p>
            <a:pPr lvl="0">
              <a:spcBef>
                <a:spcPts val="1200"/>
              </a:spcBef>
            </a:pPr>
            <a:r>
              <a:rPr lang="en-ZA" sz="1600" dirty="0"/>
              <a:t>A data structure, enables higher-level data operations such as sorting, searching, insertion and deletion</a:t>
            </a:r>
            <a:r>
              <a:rPr lang="en-ZA" sz="1600" dirty="0" smtClean="0"/>
              <a:t>.</a:t>
            </a:r>
          </a:p>
          <a:p>
            <a:pPr lvl="0">
              <a:spcBef>
                <a:spcPts val="1200"/>
              </a:spcBef>
            </a:pPr>
            <a:endParaRPr lang="en-US" sz="1600" dirty="0"/>
          </a:p>
          <a:p>
            <a:pPr lvl="0">
              <a:spcBef>
                <a:spcPts val="1200"/>
              </a:spcBef>
            </a:pPr>
            <a:r>
              <a:rPr lang="en-ZA" sz="1600" dirty="0" smtClean="0"/>
              <a:t>Example: Arrays</a:t>
            </a:r>
            <a:r>
              <a:rPr lang="en-ZA" sz="1600" dirty="0"/>
              <a:t>, Queues, Stacks, Linked lists, Trees, Graphs, </a:t>
            </a:r>
            <a:r>
              <a:rPr lang="en-ZA" sz="1600" dirty="0" smtClean="0"/>
              <a:t>Hash</a:t>
            </a:r>
          </a:p>
          <a:p>
            <a:pPr lvl="0">
              <a:spcBef>
                <a:spcPts val="1200"/>
              </a:spcBef>
            </a:pPr>
            <a:r>
              <a:rPr lang="en-US" sz="1600" dirty="0" smtClean="0"/>
              <a:t>Common Python DS: List, </a:t>
            </a:r>
            <a:r>
              <a:rPr lang="en-US" sz="1600" dirty="0" err="1" smtClean="0"/>
              <a:t>Dict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156546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collection of comma separated values.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Analogues to dynamically sized arrays in other declared languages.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most versatile datatype in Python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Does not need to contain a single data type.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Lists are order and a have a definite count.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Are changeable (mutable).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Allow duplicates.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Are indexed.</a:t>
            </a:r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body" idx="2"/>
          </p:nvPr>
        </p:nvSpPr>
        <p:spPr>
          <a:xfrm>
            <a:off x="4933225" y="1567550"/>
            <a:ext cx="4024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myClassObject = </a:t>
            </a:r>
            <a:r>
              <a:rPr lang="en">
                <a:solidFill>
                  <a:srgbClr val="3C78D8"/>
                </a:solidFill>
              </a:rPr>
              <a:t>MyClass</a:t>
            </a:r>
            <a:r>
              <a:rPr lang="en"/>
              <a:t>()</a:t>
            </a:r>
            <a:br>
              <a:rPr lang="en"/>
            </a:br>
            <a:r>
              <a:rPr lang="en"/>
              <a:t>myList = [</a:t>
            </a:r>
            <a:r>
              <a:rPr lang="en">
                <a:solidFill>
                  <a:srgbClr val="93C47D"/>
                </a:solidFill>
              </a:rPr>
              <a:t>‘Chemistry’,</a:t>
            </a:r>
            <a:r>
              <a:rPr lang="en"/>
              <a:t> </a:t>
            </a:r>
            <a:r>
              <a:rPr lang="en">
                <a:solidFill>
                  <a:srgbClr val="93C47D"/>
                </a:solidFill>
              </a:rPr>
              <a:t>‘USA’</a:t>
            </a:r>
            <a:r>
              <a:rPr lang="en"/>
              <a:t>, </a:t>
            </a:r>
            <a:r>
              <a:rPr lang="en">
                <a:solidFill>
                  <a:srgbClr val="FFE599"/>
                </a:solidFill>
              </a:rPr>
              <a:t>2</a:t>
            </a:r>
            <a:r>
              <a:rPr lang="en"/>
              <a:t>, myClassObject, </a:t>
            </a:r>
            <a:r>
              <a:rPr lang="en">
                <a:solidFill>
                  <a:srgbClr val="FFE599"/>
                </a:solidFill>
              </a:rPr>
              <a:t>2.34</a:t>
            </a:r>
            <a:r>
              <a:rPr lang="en"/>
              <a:t>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Functions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6"/>
              <a:t>myList = [</a:t>
            </a:r>
            <a:r>
              <a:rPr lang="en" sz="1566">
                <a:solidFill>
                  <a:srgbClr val="93C47D"/>
                </a:solidFill>
              </a:rPr>
              <a:t>‘Chemistry’,</a:t>
            </a:r>
            <a:r>
              <a:rPr lang="en" sz="1566"/>
              <a:t> </a:t>
            </a:r>
            <a:r>
              <a:rPr lang="en" sz="1566">
                <a:solidFill>
                  <a:srgbClr val="93C47D"/>
                </a:solidFill>
              </a:rPr>
              <a:t>‘Afrikaans’</a:t>
            </a:r>
            <a:r>
              <a:rPr lang="en" sz="1566"/>
              <a:t>, </a:t>
            </a:r>
            <a:r>
              <a:rPr lang="en" sz="1566">
                <a:solidFill>
                  <a:srgbClr val="93C47D"/>
                </a:solidFill>
              </a:rPr>
              <a:t>‘Programming’</a:t>
            </a:r>
            <a:r>
              <a:rPr lang="en" sz="1566"/>
              <a:t>, </a:t>
            </a:r>
            <a:r>
              <a:rPr lang="en" sz="1566">
                <a:solidFill>
                  <a:srgbClr val="93C47D"/>
                </a:solidFill>
              </a:rPr>
              <a:t>’Maths’</a:t>
            </a:r>
            <a:r>
              <a:rPr lang="en" sz="1566"/>
              <a:t>]</a:t>
            </a:r>
            <a:endParaRPr sz="1566"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Accessing a list: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myList[1]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myList[-2]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myList[1: 3]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Changing values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mylist[0] = ‘English’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myList[0: 2] = [‘Science’, ‘French’]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Adding Values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myList.insert(1, ‘Science’)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myList.append(‘Science’)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myList.extend(anotherList)</a:t>
            </a:r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Removing values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myList.remove(‘Chemistry’)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myList.pop(1)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del myList[1]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del myList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myList.clear()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Functions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6"/>
              <a:t>myList = [</a:t>
            </a:r>
            <a:r>
              <a:rPr lang="en" sz="1566">
                <a:solidFill>
                  <a:srgbClr val="93C47D"/>
                </a:solidFill>
              </a:rPr>
              <a:t>‘Chemistry’,</a:t>
            </a:r>
            <a:r>
              <a:rPr lang="en" sz="1566"/>
              <a:t> </a:t>
            </a:r>
            <a:r>
              <a:rPr lang="en" sz="1566">
                <a:solidFill>
                  <a:srgbClr val="93C47D"/>
                </a:solidFill>
              </a:rPr>
              <a:t>‘Afrikaans’</a:t>
            </a:r>
            <a:r>
              <a:rPr lang="en" sz="1566"/>
              <a:t>, </a:t>
            </a:r>
            <a:r>
              <a:rPr lang="en" sz="1566">
                <a:solidFill>
                  <a:srgbClr val="93C47D"/>
                </a:solidFill>
              </a:rPr>
              <a:t>‘Programming’</a:t>
            </a:r>
            <a:r>
              <a:rPr lang="en" sz="1566"/>
              <a:t>, </a:t>
            </a:r>
            <a:r>
              <a:rPr lang="en" sz="1566">
                <a:solidFill>
                  <a:srgbClr val="93C47D"/>
                </a:solidFill>
              </a:rPr>
              <a:t>’Maths’</a:t>
            </a:r>
            <a:r>
              <a:rPr lang="en" sz="1566"/>
              <a:t>]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Looping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for item in myList:</a:t>
            </a:r>
            <a:br>
              <a:rPr lang="en"/>
            </a:br>
            <a:r>
              <a:rPr lang="en"/>
              <a:t>	print(item)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for i in range( len(myList) ):</a:t>
            </a:r>
            <a:br>
              <a:rPr lang="en"/>
            </a:br>
            <a:r>
              <a:rPr lang="en"/>
              <a:t>	print(myList[i])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‘Chemistry’ in myList:</a:t>
            </a:r>
            <a:br>
              <a:rPr lang="en"/>
            </a:br>
            <a:r>
              <a:rPr lang="en"/>
              <a:t>	print(‘It is there.’)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Copying List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newList = myList.copy()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newList = list(thisList)</a:t>
            </a:r>
            <a:br>
              <a:rPr lang="en"/>
            </a:b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Sort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myList.sort()</a:t>
            </a:r>
            <a:br>
              <a:rPr lang="en"/>
            </a:b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Count - number of elements with a specified values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myList.count(‘English’)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372</Words>
  <Application>Microsoft Office PowerPoint</Application>
  <PresentationFormat>On-screen Show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Montserrat</vt:lpstr>
      <vt:lpstr>Lato</vt:lpstr>
      <vt:lpstr>Arial</vt:lpstr>
      <vt:lpstr>Focus</vt:lpstr>
      <vt:lpstr>Python: Lesson #4 Lists</vt:lpstr>
      <vt:lpstr>What was covered last week?</vt:lpstr>
      <vt:lpstr>Data Structures</vt:lpstr>
      <vt:lpstr>Data Structures</vt:lpstr>
      <vt:lpstr>Lists</vt:lpstr>
      <vt:lpstr>List Functions myList = [‘Chemistry’, ‘Afrikaans’, ‘Programming’, ’Maths’]</vt:lpstr>
      <vt:lpstr>List Functions myList = [‘Chemistry’, ‘Afrikaans’, ‘Programming’, ’Maths’]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Lesson #4 Lists</dc:title>
  <cp:lastModifiedBy>GEFFROY Marc</cp:lastModifiedBy>
  <cp:revision>7</cp:revision>
  <dcterms:modified xsi:type="dcterms:W3CDTF">2025-09-04T08:01:48Z</dcterms:modified>
</cp:coreProperties>
</file>